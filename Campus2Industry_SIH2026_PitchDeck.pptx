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10728655" cy="530352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SMART INDIA HACKATHON 2026 • IDEA SUBMISSION</a:t>
            </a:r>
          </a:p>
          <a:p>
            <a:pPr>
              <a:spcAft>
                <a:spcPts val="400"/>
              </a:spcAft>
              <a:defRPr sz="3800" b="1">
                <a:solidFill>
                  <a:srgbClr val="FFFFFF"/>
                </a:solidFill>
              </a:defRPr>
            </a:pPr>
            <a:r>
              <a:t>CAMPUS2INDUSTRY</a:t>
            </a:r>
          </a:p>
          <a:p>
            <a:pPr>
              <a:spcAft>
                <a:spcPts val="2000"/>
              </a:spcAft>
              <a:defRPr sz="1800" b="1">
                <a:solidFill>
                  <a:srgbClr val="6366F1"/>
                </a:solidFill>
              </a:defRPr>
            </a:pPr>
            <a:r>
              <a:t>Next-Gen Autonomous Career-Readiness &amp; Evidence-Based Talent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6B6D4"/>
                </a:solidFill>
              </a:rPr>
              <a:t>• Problem Statement ID: </a:t>
            </a:r>
            <a:r>
              <a:rPr sz="1300">
                <a:solidFill>
                  <a:srgbClr val="E2E8F0"/>
                </a:solidFill>
              </a:rPr>
              <a:t>SIH26044
</a:t>
            </a:r>
          </a:p>
          <a:p>
            <a:r>
              <a:rPr b="1" sz="1300">
                <a:solidFill>
                  <a:srgbClr val="06B6D4"/>
                </a:solidFill>
              </a:rPr>
              <a:t>• Problem Statement Title: </a:t>
            </a:r>
            <a:r>
              <a:rPr sz="1300">
                <a:solidFill>
                  <a:srgbClr val="E2E8F0"/>
                </a:solidFill>
              </a:rPr>
              <a:t>Portal for Academia - Industry collaboration for Skill Mapping, Internships and Placement
</a:t>
            </a:r>
          </a:p>
          <a:p>
            <a:r>
              <a:rPr b="1" sz="1300">
                <a:solidFill>
                  <a:srgbClr val="06B6D4"/>
                </a:solidFill>
              </a:rPr>
              <a:t>• Theme / Category: </a:t>
            </a:r>
            <a:r>
              <a:rPr sz="1300">
                <a:solidFill>
                  <a:srgbClr val="E2E8F0"/>
                </a:solidFill>
              </a:rPr>
              <a:t>Smart Automation / Software
</a:t>
            </a:r>
          </a:p>
          <a:p>
            <a:r>
              <a:rPr b="1" sz="1300">
                <a:solidFill>
                  <a:srgbClr val="06B6D4"/>
                </a:solidFill>
              </a:rPr>
              <a:t>• Team Name: </a:t>
            </a:r>
            <a:r>
              <a:rPr sz="1300">
                <a:solidFill>
                  <a:srgbClr val="E2E8F0"/>
                </a:solidFill>
              </a:rPr>
              <a:t>Sparks (Team ID: [Registered Team ID])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834640"/>
            <a:ext cx="3931920" cy="2651760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301752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🔥 THE PARADIGM SHIFT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"Claim ≠ Verified Skill"</a:t>
            </a:r>
            <a:br/>
            <a:br/>
            <a:r>
              <a:t>Today's platforms store static resumes with exaggerated claims. Campus2Industry replaces unverified resumes with an Evidence-Backed Digital Career Passport powered by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PROBLEM BREAKDOWN &amp; INNOVATION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Idea &amp; Unique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30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9CA3AF"/>
                </a:solidFill>
              </a:defRPr>
            </a:pPr>
            <a:r>
              <a:t>SIH26044 |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3F5E"/>
                </a:solidFill>
              </a:defRPr>
            </a:pPr>
            <a:r>
              <a:t>🔴 THE REALITY GAP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Curriculum Lag: </a:t>
            </a:r>
            <a:r>
              <a:rPr sz="1050">
                <a:solidFill>
                  <a:srgbClr val="9CA3AF"/>
                </a:solidFill>
              </a:rPr>
              <a:t>Academic syllabi update every 3-5 years; industry tech stacks evolve every 6 months.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80% Employability Void: </a:t>
            </a:r>
            <a:r>
              <a:rPr sz="1050">
                <a:solidFill>
                  <a:srgbClr val="9CA3AF"/>
                </a:solidFill>
              </a:rPr>
              <a:t>Graduates possess theoretical grades but lack production-ready, hands-on development proof.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ATS Black Hole: </a:t>
            </a:r>
            <a:r>
              <a:rPr sz="1050">
                <a:solidFill>
                  <a:srgbClr val="9CA3AF"/>
                </a:solidFill>
              </a:rPr>
              <a:t>75%+ of student job applications get eliminated at automated ATS screening due to non-standard resumes.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Disconnected Portals: </a:t>
            </a:r>
            <a:r>
              <a:rPr sz="1050">
                <a:solidFill>
                  <a:srgbClr val="9CA3AF"/>
                </a:solidFill>
              </a:rPr>
              <a:t>Colleges, internship portals, and recruiters work in silos with zero shared skill taxonomy.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49377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💡 PROPOSED SOLUTION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Unified 4-Year Journey: </a:t>
            </a:r>
            <a:r>
              <a:rPr sz="1050">
                <a:solidFill>
                  <a:srgbClr val="9CA3AF"/>
                </a:solidFill>
              </a:rPr>
              <a:t>From Year 1 (Foundations) to Year 4 (Placements), students follow a structured, gamified milestone progression.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Dynamic Skill Gap Engine: </a:t>
            </a:r>
            <a:r>
              <a:rPr sz="1050">
                <a:solidFill>
                  <a:srgbClr val="9CA3AF"/>
                </a:solidFill>
              </a:rPr>
              <a:t>Audits student coursework and GitHub repos against real-time job role requirements.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Real-Time ATS Resume Builder: </a:t>
            </a:r>
            <a:r>
              <a:rPr sz="1050">
                <a:solidFill>
                  <a:srgbClr val="9CA3AF"/>
                </a:solidFill>
              </a:rPr>
              <a:t>Built-in ATS score analyzer and Gemini AI bullet enhancer for direct recruiter compatibility.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Academic Resource Hub: </a:t>
            </a:r>
            <a:r>
              <a:rPr sz="1050">
                <a:solidFill>
                  <a:srgbClr val="9CA3AF"/>
                </a:solidFill>
              </a:rPr>
              <a:t>Consolidated notes, company cheat sheets (TCS, Zoho, Google), and aptitude mocks in one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371600"/>
            <a:ext cx="3429000" cy="49377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⚡ INNOVATION &amp; MOATS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Evidence-Backed Digital Passport: </a:t>
            </a:r>
            <a:r>
              <a:rPr sz="1050">
                <a:solidFill>
                  <a:srgbClr val="9CA3AF"/>
                </a:solidFill>
              </a:rPr>
              <a:t>Skills are stamped with verified code proof, quiz scores, and project artifacts—not just self-claims.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Explainable Matchmaking Score: </a:t>
            </a:r>
            <a:r>
              <a:rPr sz="1050">
                <a:solidFill>
                  <a:srgbClr val="9CA3AF"/>
                </a:solidFill>
              </a:rPr>
              <a:t>Both student &amp; recruiter see EXACT matched skills, missing delta, and next remediation step.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Next-Best-Action Engine: </a:t>
            </a:r>
            <a:r>
              <a:rPr sz="1050">
                <a:solidFill>
                  <a:srgbClr val="9CA3AF"/>
                </a:solidFill>
              </a:rPr>
              <a:t>Autonomous AI recommendation: 'Complete Docker module + build 1 microservice to reach 90% Zoho readiness'.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• 24/7 AI Career Mentor: </a:t>
            </a:r>
            <a:r>
              <a:rPr sz="1050">
                <a:solidFill>
                  <a:srgbClr val="9CA3AF"/>
                </a:solidFill>
              </a:rPr>
              <a:t>Powered by Google Gemini for mock interview simulations, viva prep, and personalized roadmaps.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SYSTEM DESIGN &amp; TECH STACK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Implementation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30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9CA3AF"/>
                </a:solidFill>
              </a:defRPr>
            </a:pPr>
            <a:r>
              <a:t>SIH26044 | Slide 3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1. PRESENTATION LAYER (Multi-Role Responsive Interface)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Technologies: React 19, Vite 8, Modern Vanilla CSS (Glassmorphism &amp; Micro-animations), Lucide Icons, Recharts</a:t>
            </a:r>
            <a:br/>
            <a:r>
              <a:t>• Portals: Student 4-Year Hub | Faculty / TPO Placement Analytics Heatmap | Recruiter Candidate Shortlisting Desk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1005840"/>
          </a:xfrm>
          <a:prstGeom prst="roundRect">
            <a:avLst/>
          </a:prstGeom>
          <a:solidFill>
            <a:srgbClr val="1820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2. BACKEND &amp; INTELLIGENCE LAYER (Asynchronous Microservices &amp; AI)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Core Engine: Python FastAPI REST APIs + Asynchronous Concurrency + Google Gemini AI SDK (@google/generative-ai)</a:t>
            </a:r>
            <a:br/>
            <a:r>
              <a:t>• Logic Modules: Explainable Matching Engine, Real-Time ATS Score Calculator, Dynamic Skill-Gap Delta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8655" cy="100584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3. DATA PERSISTENCE &amp; SECURITY LAYER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Storage: PostgreSQL Relational Schema (Users, Academic Nodes, Job Taxonomies, Assessment Audit Logs)</a:t>
            </a:r>
            <a:br/>
            <a:r>
              <a:t>• Security: JWT Authentication, Strict Role-Based Access Control (RBAC), Encrypted Credentials (.env vault), CSRF protection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5087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6289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🔄 COMPLETE IMPLEMENTATION &amp; DATA FLOW PIPELINE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Student Onboarding ➔ Target Role Selection (e.g., Full Stack / AI) ➔ Academic &amp; Code Ingestion ➔ Dynamic Skill-Gap Radar Analysis ➔ Automated Remediation Roadmap (Notes + Company Cheat Sheets) ➔ ATS Resume Generation ➔ AI Mock Interview ➔ Verified Recruiter Matchmaking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TECHNICAL &amp; OPERATIONAL VIABILITY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Scalability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30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9CA3AF"/>
                </a:solidFill>
              </a:defRPr>
            </a:pPr>
            <a:r>
              <a:t>SIH26044 | Slide 4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🛠️ TECHNICAL FEASIBILITY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100% Software-Driven: Zero proprietary hardware requirement; runs seamlessly across desktop and low-end mobile devices.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Modular Microservice Ready: Independent decoupling of Frontend, AI microservice, and database allows painless cloud scaling.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Deterministic + AI Hybrid: Core scoring operates deterministically with zero latency; Gemini AI is selectively invoked for heavy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237744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💼 ECONOMIC &amp; OPERATIONAL VIABILITY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Negligible Cloud Footprint: Static frontend CDN distribution with optimized Vite bundling (sub-second load time).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Institution Onboarding in Minutes: Simple CSV / syllabus import allows colleges to map entire department curricula in under 5 minutes.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Direct Value for Recruiters: Saves up to 70% in screening time, making recruitment drives faster, cheaper, and merit-focused.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3F5E"/>
                </a:solidFill>
              </a:defRPr>
            </a:pPr>
            <a:r>
              <a:t>⚠️ IDENTIFIED RISKS &amp; CHALLENGES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Skill Taxonomy Drift: Rapid introduction of new industry frameworks (e.g. LangChain, Rust) causing outdated benchmarks.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AI Hallucinations: Generative models generating imprecise resume suggestions or unverified advice.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Student Privacy &amp; Data Security: Maintaining student academic privacy and preventing unauthorized exposure of marks/records.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931920"/>
            <a:ext cx="5212080" cy="237744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🛡️ ENGINEERING RISK MITIGATION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Crowdsourced &amp; Curated Skill Updates: Regular automated scraping and admin-reviewed industry skill taxonomy versioning.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Grounding &amp; Guardrails: Strict system prompting and deterministic parsing on Gemini outputs to eliminate factual inaccuracies.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DPDP &amp; RBAC Compliance: End-to-end tokenized data isolation; companies view anonymized skill evidence until mutual consent.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VALUE DELIVERY FOR ALL STAKEHOLDERS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Impact, Benefits &amp; Measurable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30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9CA3AF"/>
                </a:solidFill>
              </a:defRPr>
            </a:pPr>
            <a:r>
              <a:t>SIH26044 | Slide 5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31089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👨‍🎓 FOR STUDENTS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Clear 4-Year Pathway: Eliminates final-year placement panic with progressive semester milestones.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60% Better Screening Clearance: Tailored ATS resumes and metric-driven bullets boost interview shortlists.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Free Quality Prep: One-stop access to verified notes, PYQs, and company-specific interview cheat 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31089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6304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🏛️ FOR COLLEGES &amp; TPOs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Real-Time Readiness Heatmap: Instant departmental visibility on which students need coding / aptitude interventions.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Curriculum Feedback Loop: Identifies syllabus weak spots based on current industry rejection analytics.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Higher Placement Conversion: Boosts institutional placement statistics by 35%+ through structured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371600"/>
            <a:ext cx="3429000" cy="31089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46304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🏢 FOR INDUSTRY &amp; RECRUITERS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Verified Talent Pipeline: Filter candidates by verified GitHub proofs and practical coding assessments.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3x Faster Hiring Velocity: Pre-mapped candidate readiness eliminates redundant 1st-round screening.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Targeted Campus Drives: Recruiters can dispatch project challenges and hire students matching exact stack profiles.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10182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📈 QUANTIFIABLE SUCCESS METRICS &amp; TARGET OUTCOMES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40% Reduction in Student Skill Gap over 6-month progressive roadmap tracking</a:t>
            </a:r>
            <a:br/>
            <a:r>
              <a:t>• 3x Surge in Internship Match Precision using explainable skill-vector algorithms</a:t>
            </a:r>
            <a:br/>
            <a:r>
              <a:t>• 100% Elimination of Unformatted Resumes through built-in ATS compliant export engines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VALIDATION, REFERENCES &amp; SCALE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Research, Citations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30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 algn="r">
              <a:defRPr sz="900">
                <a:solidFill>
                  <a:srgbClr val="9CA3AF"/>
                </a:solidFill>
              </a:defRPr>
            </a:pPr>
            <a:r>
              <a:t>SIH26044 | Slide 6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📚 RESEARCH BENCHMARKS &amp; OFFICIAL CITATIONS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NASSCOM Employability Report 2024: </a:t>
            </a:r>
            <a:r>
              <a:rPr sz="1000">
                <a:solidFill>
                  <a:srgbClr val="9CA3AF"/>
                </a:solidFill>
              </a:rPr>
              <a:t>Highlighted that only ~22% of engineering graduates possess readily employable tech capabilities without corporate retraining.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O*NET OnLine &amp; Skill Taxonomy Standard: </a:t>
            </a:r>
            <a:r>
              <a:rPr sz="1000">
                <a:solidFill>
                  <a:srgbClr val="9CA3AF"/>
                </a:solidFill>
              </a:rPr>
              <a:t>Referenced for hierarchical competency definitions across Software Development and AI Engineering roles.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National Education Policy (NEP 2020): </a:t>
            </a:r>
            <a:r>
              <a:rPr sz="1000">
                <a:solidFill>
                  <a:srgbClr val="9CA3AF"/>
                </a:solidFill>
              </a:rPr>
              <a:t>Alings with multidisciplinary skill accumulation, continuous formative assessment, and digital student credit banks.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• Technical Literature &amp; Documentation: </a:t>
            </a:r>
            <a:r>
              <a:rPr sz="1000">
                <a:solidFill>
                  <a:srgbClr val="9CA3AF"/>
                </a:solidFill>
              </a:rPr>
              <a:t>React 19 Core Architecture, Google Gemini Multimodal APIs, FastAPI Asynchronous Benchmark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4937760"/>
          </a:xfrm>
          <a:prstGeom prst="roundRect">
            <a:avLst/>
          </a:prstGeom>
          <a:solidFill>
            <a:srgbClr val="18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🛣️ 3-PHASE EXECUTION &amp; NATIONAL SCALE ROADMAP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PHASE 1: Prototype &amp; Core Validation (CURRENT - 100% Complete)
</a:t>
            </a:r>
            <a:r>
              <a:rPr sz="1000">
                <a:solidFill>
                  <a:srgbClr val="9CA3AF"/>
                </a:solidFill>
              </a:rPr>
              <a:t>• Deployed 4-Year Progressive Campus Journey
• Live ATS Resume Builder with Gemini AI Bullet Enhancer
• Notes Library, Placement Cheat Sheets &amp; Opportunity Board
• 24/7 AI Career Mentor Chatbot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PHASE 2: Institutional Pilot Deployment (Months 1 - 3)
</a:t>
            </a:r>
            <a:r>
              <a:rPr sz="1000">
                <a:solidFill>
                  <a:srgbClr val="9CA3AF"/>
                </a:solidFill>
              </a:rPr>
              <a:t>• Pilot integration with 5 Engineering Colleges in Tamil Nadu
• LMS integrations (Google Classroom, Moodle, Canvas)
• Direct corporate partner job pipeline testing with verified applicant exports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PHASE 3: National Scale &amp; AICTE Integration (Months 4 - 12)
</a:t>
            </a:r>
            <a:r>
              <a:rPr sz="1000">
                <a:solidFill>
                  <a:srgbClr val="9CA3AF"/>
                </a:solidFill>
              </a:rPr>
              <a:t>• AICTE / NEP 2020 Academic Bank of Credits (ABC) alignment
• Autonomous AI Code Proctored Assessments
• Multi-regional language support for tier-2/tier-3 rural engineering colleges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