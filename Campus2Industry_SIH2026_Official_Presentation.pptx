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49840" y="2286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149840" y="25603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SMART INDIA</a:t>
            </a:r>
            <a:br/>
            <a:r>
              <a:t>HACKATHON 2026</a:t>
            </a:r>
          </a:p>
          <a:p>
            <a:pPr algn="ctr">
              <a:defRPr sz="800" b="1">
                <a:solidFill>
                  <a:srgbClr val="D97706"/>
                </a:solidFill>
              </a:defRPr>
            </a:pPr>
            <a:r>
              <a:t>SIH26044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48640"/>
            <a:ext cx="94183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1D4ED8"/>
                </a:solidFill>
              </a:defRPr>
            </a:pPr>
            <a:r>
              <a:t>SMART INDIA HACKATHON 2026</a:t>
            </a:r>
          </a:p>
          <a:p>
            <a:pPr algn="ctr">
              <a:defRPr sz="2400" b="1">
                <a:solidFill>
                  <a:srgbClr val="94A3B8"/>
                </a:solidFill>
              </a:defRPr>
            </a:pPr>
            <a:r>
              <a:t>CAMPUS2INDUSTRY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6583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Problem Statement ID –</a:t>
            </a:r>
            <a:r>
              <a:rPr sz="1350">
                <a:solidFill>
                  <a:srgbClr val="334155"/>
                </a:solidFill>
              </a:rPr>
              <a:t> SIH26044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Problem Statement Title –</a:t>
            </a:r>
            <a:r>
              <a:rPr sz="1350">
                <a:solidFill>
                  <a:srgbClr val="334155"/>
                </a:solidFill>
              </a:rPr>
              <a:t> Portal for Academia -
Industry collaboration for Skill Mapping, Internships and
Placement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Theme –</a:t>
            </a:r>
            <a:r>
              <a:rPr sz="1350">
                <a:solidFill>
                  <a:srgbClr val="334155"/>
                </a:solidFill>
              </a:rPr>
              <a:t> Smart Automation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PS Category –</a:t>
            </a:r>
            <a:r>
              <a:rPr sz="1350">
                <a:solidFill>
                  <a:srgbClr val="334155"/>
                </a:solidFill>
              </a:rPr>
              <a:t> Software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Team ID –</a:t>
            </a:r>
            <a:r>
              <a:rPr sz="1350">
                <a:solidFill>
                  <a:srgbClr val="334155"/>
                </a:solidFill>
              </a:rPr>
              <a:t> [Enter Registered Team ID]</a:t>
            </a:r>
          </a:p>
          <a:p>
            <a:pPr>
              <a:spcAft>
                <a:spcPts val="800"/>
              </a:spcAft>
            </a:pPr>
            <a:r>
              <a:rPr b="1" sz="1400">
                <a:solidFill>
                  <a:srgbClr val="0F172A"/>
                </a:solidFill>
              </a:rPr>
              <a:t>Team Name –</a:t>
            </a:r>
            <a:r>
              <a:rPr sz="1350">
                <a:solidFill>
                  <a:srgbClr val="334155"/>
                </a:solidFill>
              </a:rPr>
              <a:t> Campus2Industry  (Team &amp; App Name Unified)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0" y="2103120"/>
            <a:ext cx="3840480" cy="41148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955279" y="2286000"/>
            <a:ext cx="3474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D4ED8"/>
                </a:solidFill>
              </a:defRPr>
            </a:pPr>
            <a:r>
              <a:t>CAMPUS2INDUSTRY</a:t>
            </a:r>
          </a:p>
          <a:p>
            <a:pPr algn="ctr">
              <a:spcAft>
                <a:spcPts val="1400"/>
              </a:spcAft>
              <a:defRPr sz="1100">
                <a:solidFill>
                  <a:srgbClr val="64748B"/>
                </a:solidFill>
              </a:defRPr>
            </a:pPr>
            <a:r>
              <a:t>Autonomous Career-Readiness &amp; Verified Talent Pipeline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🎯 AI 4-Year Progressive Career Milestone Engine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📄 Real-time ATS Resume Builder &amp; Analyzer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📊 Dynamic Skill Gap &amp; Explainable Matching</a:t>
            </a:r>
          </a:p>
          <a:p>
            <a:pPr>
              <a:spcAft>
                <a:spcPts val="600"/>
              </a:spcAft>
              <a:defRPr sz="1100" b="1">
                <a:solidFill>
                  <a:srgbClr val="0F172A"/>
                </a:solidFill>
              </a:defRPr>
            </a:pPr>
            <a:r>
              <a:t>💼 Live Opportunities, Notes &amp; Cheat Sheets Portal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Campus2Industry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5603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IDEA TITLE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2286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25603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SMART INDIA</a:t>
            </a:r>
            <a:br/>
            <a:r>
              <a:t>HACKATHON 2026</a:t>
            </a:r>
          </a:p>
          <a:p>
            <a:pPr algn="ctr">
              <a:defRPr sz="800" b="1">
                <a:solidFill>
                  <a:srgbClr val="D97706"/>
                </a:solidFill>
              </a:defRPr>
            </a:pPr>
            <a:r>
              <a:t>SIH26044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6327648"/>
            <a:ext cx="530352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6355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91072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D4ED8"/>
                </a:solidFill>
              </a:defRPr>
            </a:pPr>
            <a:r>
              <a:t>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548640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512064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 b="1">
                <a:solidFill>
                  <a:srgbClr val="1D4ED8"/>
                </a:solidFill>
              </a:defRPr>
            </a:pPr>
            <a:r>
              <a:t>IDEA: Campus2Industry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Proposed Solution</a:t>
            </a:r>
          </a:p>
          <a:p>
            <a:pPr>
              <a:spcAft>
                <a:spcPts val="1000"/>
              </a:spcAft>
              <a:defRPr sz="1100">
                <a:solidFill>
                  <a:srgbClr val="334155"/>
                </a:solidFill>
              </a:defRPr>
            </a:pPr>
            <a:r>
              <a:t>• AI-powered 4-year career-readiness ecosystem connecting academics, verified skills, real projects, internships, assessments, and placements into one single pane of glass.</a:t>
            </a:r>
            <a:br/>
            <a:r>
              <a:t>• Structured Student Journey: ORIENT (Y1) → DISCOVER (Y2) → BUILD (Y3) → PRACTICE (Y3.5) → DEPLOY (Y4 Placement).</a:t>
            </a:r>
          </a:p>
          <a:p>
            <a:pPr>
              <a:defRPr sz="1300" b="1">
                <a:solidFill>
                  <a:srgbClr val="0F172A"/>
                </a:solidFill>
              </a:defRPr>
            </a:pPr>
            <a:r>
              <a:t>How It Addresses the Problem</a:t>
            </a:r>
          </a:p>
          <a:p>
            <a:pPr>
              <a:defRPr sz="1100">
                <a:solidFill>
                  <a:srgbClr val="334155"/>
                </a:solidFill>
              </a:defRPr>
            </a:pPr>
            <a:r>
              <a:t>• Common Skill Taxonomy: Bridges the gap between static university curriculum and rapid industry changes.</a:t>
            </a:r>
            <a:br/>
            <a:r>
              <a:t>• Objective Diagnostics: Real-time identification of what a student knows, what exact skills are missing, and the next remediation step.</a:t>
            </a:r>
            <a:br/>
            <a:r>
              <a:t>• Automated Role Matching: Matches students with curated live internships and hiring drives based on verified capabilities.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9377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029200" cy="4663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1">
                <a:solidFill>
                  <a:srgbClr val="1D4ED8"/>
                </a:solidFill>
              </a:defRPr>
            </a:pPr>
            <a:r>
              <a:t>Innovation &amp; Uniqueness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Evidence-Based Skill Profile (Claim ≠ Verified Skill):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  Eliminates unverified resume claims by attaching tangible proof (GitHub commits, code sandbox verification, proctored quizzes).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Explainable Matchmaking Engine: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  Breaks down matching into transparent metrics: Matched Skills %, Missing Delta Skills, and Instant Course Recommendations.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Next-Best-Action Recommendation Engine: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  Autonomous AI-generated remediation pathway tailored to student's goal (e.g. 'Build 1 React state project to hit 90% Zoho cutoff').</a:t>
            </a:r>
          </a:p>
          <a:p>
            <a:pPr>
              <a:defRPr sz="1150" b="1">
                <a:solidFill>
                  <a:srgbClr val="0F172A"/>
                </a:solidFill>
              </a:defRPr>
            </a:pPr>
            <a:r>
              <a:t>• Dual-Mode AI Career Coach (Gemini + Offline):</a:t>
            </a:r>
          </a:p>
          <a:p>
            <a:pPr>
              <a:spcAft>
                <a:spcPts val="600"/>
              </a:spcAft>
              <a:defRPr sz="1050">
                <a:solidFill>
                  <a:srgbClr val="334155"/>
                </a:solidFill>
              </a:defRPr>
            </a:pPr>
            <a:r>
              <a:t>  Integrated Google Gemini AI for mock interview rounds &amp; real-time ATS resume bullet enhancement, backed by high-fidelity offline fallbacks.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Campus2Industry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5603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TECHNICAL APPROACH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2286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25603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SMART INDIA</a:t>
            </a:r>
            <a:br/>
            <a:r>
              <a:t>HACKATHON 2026</a:t>
            </a:r>
          </a:p>
          <a:p>
            <a:pPr algn="ctr">
              <a:defRPr sz="800" b="1">
                <a:solidFill>
                  <a:srgbClr val="D97706"/>
                </a:solidFill>
              </a:defRPr>
            </a:pPr>
            <a:r>
              <a:t>SIH26044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6327648"/>
            <a:ext cx="530352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6355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91072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D4ED8"/>
                </a:solidFill>
              </a:defRPr>
            </a:pPr>
            <a: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621792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585216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 b="1">
                <a:solidFill>
                  <a:srgbClr val="1D4ED8"/>
                </a:solidFill>
              </a:defRPr>
            </a:pPr>
            <a:r>
              <a:t>TECHNICAL ARCHITECTURE &amp; COMPLETE STACK</a:t>
            </a:r>
          </a:p>
          <a:p>
            <a:r>
              <a:rPr b="1" sz="1100">
                <a:solidFill>
                  <a:srgbClr val="0F172A"/>
                </a:solidFill>
              </a:rPr>
              <a:t>• Frontend Presentation: 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React 19 + Vite 8 + ES6 JavaScript + Vanilla CSS Design System</a:t>
            </a:r>
            <a:br/>
            <a:r>
              <a:t>• Modular Components, Glassmorphic Dashboard, Lucide Icons, Recharts Analytics</a:t>
            </a:r>
          </a:p>
          <a:p>
            <a:r>
              <a:rPr b="1" sz="1100">
                <a:solidFill>
                  <a:srgbClr val="0F172A"/>
                </a:solidFill>
              </a:rPr>
              <a:t>• Backend &amp; APIs: 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Python + FastAPI • REST Endpoints • High-concurrency Async Workers</a:t>
            </a:r>
            <a:br/>
            <a:r>
              <a:t>• Client-Side State &amp; Fallback Handlers in Prototype; Full Python API in Production</a:t>
            </a:r>
          </a:p>
          <a:p>
            <a:r>
              <a:rPr b="1" sz="1100">
                <a:solidFill>
                  <a:srgbClr val="0F172A"/>
                </a:solidFill>
              </a:rPr>
              <a:t>• Database &amp; Storage: 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PostgreSQL • Relational Schema for Users, Curricula, Taxonomies &amp; Assessment Data</a:t>
            </a:r>
            <a:br/>
            <a:r>
              <a:t>• LocalStorage Client-Side Vault for Prototype Resumes &amp; API Settings</a:t>
            </a:r>
          </a:p>
          <a:p>
            <a:r>
              <a:rPr b="1" sz="1100">
                <a:solidFill>
                  <a:srgbClr val="0F172A"/>
                </a:solidFill>
              </a:rPr>
              <a:t>• AI &amp; Intelligence Layer: 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  Google Gemini AI SDK (@google/generative-ai) + Custom Prompt Frameworks</a:t>
            </a:r>
            <a:br/>
            <a:r>
              <a:t>• Real-Time ATS Resume Scanner, 5-Stage Mock Interview Evaluator, Skill Gap Delta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949440" y="1188720"/>
            <a:ext cx="4663440" cy="4114800"/>
          </a:xfrm>
          <a:prstGeom prst="roundRect">
            <a:avLst/>
          </a:prstGeom>
          <a:solidFill>
            <a:srgbClr val="EFF6FF"/>
          </a:solidFill>
          <a:ln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0" y="1280160"/>
            <a:ext cx="42976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 b="1">
                <a:solidFill>
                  <a:srgbClr val="1D4ED8"/>
                </a:solidFill>
              </a:defRPr>
            </a:pPr>
            <a:r>
              <a:t>IMPLEMENTATION PIPELINE FLOW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1. Student Profile &amp; Target Role Ingestion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2. Diagnostic Skill Gap &amp; Curriculum Mapping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3. Remediation Roadmap (Notes &amp; Cheat Sheets)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4. AI-Enhanced ATS Resume Generation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5. 5-Stage AI Mock Technical Interview</a:t>
            </a:r>
          </a:p>
          <a:p>
            <a:pPr>
              <a:spcAft>
                <a:spcPts val="400"/>
              </a:spcAft>
              <a:defRPr sz="1050" b="1">
                <a:solidFill>
                  <a:srgbClr val="0F172A"/>
                </a:solidFill>
              </a:defRPr>
            </a:pPr>
            <a:r>
              <a:t>6. Verified Matchmaking for Internships / Placements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5440680"/>
            <a:ext cx="11064240" cy="777240"/>
          </a:xfrm>
          <a:prstGeom prst="roundRect">
            <a:avLst/>
          </a:prstGeom>
          <a:solidFill>
            <a:srgbClr val="F0FDF4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532120"/>
            <a:ext cx="10698480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166534"/>
                </a:solidFill>
              </a:rPr>
              <a:t>🔗 OFFICIAL PROJECT GITHUB REPOSITORY:  </a:t>
            </a:r>
            <a:r>
              <a:rPr b="1" sz="1200">
                <a:solidFill>
                  <a:srgbClr val="2563EB"/>
                </a:solidFill>
              </a:rPr>
              <a:t>https://github.com/faizz-hub/campustoindustry</a:t>
            </a:r>
          </a:p>
          <a:p>
            <a:pPr>
              <a:defRPr sz="950">
                <a:solidFill>
                  <a:srgbClr val="334155"/>
                </a:solidFill>
              </a:defRPr>
            </a:pPr>
            <a:r>
              <a:t>Contains full React application source code, AI services, modular notes database, and deployment configurations.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Campus2Industry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5603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FEASIBILITY AND VIABILITY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2286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25603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SMART INDIA</a:t>
            </a:r>
            <a:br/>
            <a:r>
              <a:t>HACKATHON 2026</a:t>
            </a:r>
          </a:p>
          <a:p>
            <a:pPr algn="ctr">
              <a:defRPr sz="800" b="1">
                <a:solidFill>
                  <a:srgbClr val="D97706"/>
                </a:solidFill>
              </a:defRPr>
            </a:pPr>
            <a:r>
              <a:t>SIH26044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6327648"/>
            <a:ext cx="530352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6355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91072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D4ED8"/>
                </a:solidFill>
              </a:defRPr>
            </a:pPr>
            <a: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35204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D4ED8"/>
                </a:solidFill>
              </a:defRPr>
            </a:pPr>
            <a:r>
              <a:t>FEASIBILITY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Software-Only Architecture: Zero dependency on custom proprietary hardware; runs on any standard browser/device.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Modular Phased Scalability: Frontend SPA, AI microservices, and database are decoupled for effortless horizontal scaling.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High-Resilience Prototype: Operates dynamically with live Google Gemini API and features built-in deterministic fallbacks.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188720"/>
            <a:ext cx="35204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28016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DC2626"/>
                </a:solidFill>
              </a:defRPr>
            </a:pPr>
            <a:r>
              <a:t>POTENTIAL CHALLENGES / RISKS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Skill Taxonomy Drift: Tech stacks evolve continuously; benchmarks risk becoming obsolete.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AI Output Inconsistency: Generative models may yield variable feedback across candidate answers.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Student Privacy &amp; Data Security: Student academic records require strict protection under data regulations.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Industry Participation Variance: Disparate corporate response rates across off-campus hiring drives.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88720"/>
            <a:ext cx="3520440" cy="3566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32461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300" b="1">
                <a:solidFill>
                  <a:srgbClr val="166534"/>
                </a:solidFill>
              </a:defRPr>
            </a:pPr>
            <a:r>
              <a:t>RISK MITIGATION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Versioned Skill Repositories: Admin-curated, version-controlled skill taxonomy updated quarterly.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Deterministic Grounding: Strict JSON schema enforcement on AI models to prevent hallucinations.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RBAC &amp; Data Tokenization: Encrypted authentication, role-based access control, and minimal data collection.</a:t>
            </a:r>
          </a:p>
          <a:p>
            <a:pPr>
              <a:spcAft>
                <a:spcPts val="400"/>
              </a:spcAft>
              <a:defRPr sz="1000">
                <a:solidFill>
                  <a:srgbClr val="334155"/>
                </a:solidFill>
              </a:defRPr>
            </a:pPr>
            <a:r>
              <a:t>• Standardized Campus Portal: Pre-mapped company cheat sheets (TCS, Zoho, Google) guarantee day-one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892040"/>
            <a:ext cx="11064240" cy="132588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D4E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983480"/>
            <a:ext cx="1069848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300"/>
              </a:spcAft>
            </a:pPr>
            <a:r>
              <a:rPr b="1" sz="1250">
                <a:solidFill>
                  <a:srgbClr val="1D4ED8"/>
                </a:solidFill>
              </a:rPr>
              <a:t>🌐 ASSOCIATED LIVE APPLICATION &amp; DEPLOYMENT LINKS</a:t>
            </a:r>
          </a:p>
          <a:p>
            <a:r>
              <a:rPr b="1" sz="1100">
                <a:solidFill>
                  <a:srgbClr val="0F172A"/>
                </a:solidFill>
              </a:rPr>
              <a:t>• Live Web Application Link: </a:t>
            </a:r>
            <a:r>
              <a:rPr sz="1100">
                <a:solidFill>
                  <a:srgbClr val="2563EB"/>
                </a:solidFill>
              </a:rPr>
              <a:t>https://github.com/faizz-hub/campustoindustry#live-demo  (Vercel Production Deployment)</a:t>
            </a:r>
          </a:p>
          <a:p>
            <a:r>
              <a:rPr b="1" sz="1100">
                <a:solidFill>
                  <a:srgbClr val="0F172A"/>
                </a:solidFill>
              </a:rPr>
              <a:t>• Working Prototype Local Endpoint: </a:t>
            </a:r>
            <a:r>
              <a:rPr sz="1100">
                <a:solidFill>
                  <a:srgbClr val="2563EB"/>
                </a:solidFill>
              </a:rPr>
              <a:t>http://localhost:5173  (Active Vite Development Server)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Campus2Industry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5603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IMPACT AND BENEFITS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2286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25603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SMART INDIA</a:t>
            </a:r>
            <a:br/>
            <a:r>
              <a:t>HACKATHON 2026</a:t>
            </a:r>
          </a:p>
          <a:p>
            <a:pPr algn="ctr">
              <a:defRPr sz="800" b="1">
                <a:solidFill>
                  <a:srgbClr val="D97706"/>
                </a:solidFill>
              </a:defRPr>
            </a:pPr>
            <a:r>
              <a:t>SIH26044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6327648"/>
            <a:ext cx="530352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6355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91072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D4ED8"/>
                </a:solidFill>
              </a:defRPr>
            </a:pPr>
            <a: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352044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28016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D4ED8"/>
                </a:solidFill>
              </a:defRPr>
            </a:pPr>
            <a:r>
              <a:t>STUDENTS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Clear 4-year progression pathway from semester 1 to placement day.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Measurable skill growth with verified coding and project evidence.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Direct access to ATS resume optimization and company cheat sheets.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AI-guided interview practice tailored to target job roles.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188720"/>
            <a:ext cx="352044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53128" y="128016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D4ED8"/>
                </a:solidFill>
              </a:defRPr>
            </a:pPr>
            <a:r>
              <a:t>COLLEGES / FACULTY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Department-level skill heatmap &amp; readiness analytics.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Early identification of academically weak students for intervention.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Consolidated tracking of internships, projects, and hackathon feats.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Curriculum feedback loop based on real employer rejection signals.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92440" y="1188720"/>
            <a:ext cx="3520440" cy="301752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280160"/>
            <a:ext cx="32461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300" b="1">
                <a:solidFill>
                  <a:srgbClr val="1D4ED8"/>
                </a:solidFill>
              </a:defRPr>
            </a:pPr>
            <a:r>
              <a:t>INDUSTRY / RECRUITERS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Pre-verified candidate skill profiles backed by tangible code artifacts.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Targeted internship and live project talent discovery.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3x faster shortlisting velocity with transparent eligibility matching.</a:t>
            </a:r>
          </a:p>
          <a:p>
            <a:pPr>
              <a:spcAft>
                <a:spcPts val="300"/>
              </a:spcAft>
              <a:defRPr sz="950">
                <a:solidFill>
                  <a:srgbClr val="334155"/>
                </a:solidFill>
              </a:defRPr>
            </a:pPr>
            <a:r>
              <a:t>• Substantially reduced campus recruitment logistics and hiring costs.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343400"/>
            <a:ext cx="11064240" cy="77724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1520" y="4389120"/>
            <a:ext cx="1069848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F172A"/>
                </a:solidFill>
              </a:defRPr>
            </a:pPr>
            <a:r>
              <a:t>KEY BENEFITS: Continuous 4-year ecosystem | Personalized next-best-action engine | Explainable matching | Verified Digital Career Passport</a:t>
            </a:r>
          </a:p>
          <a:p>
            <a:pPr>
              <a:defRPr sz="950">
                <a:solidFill>
                  <a:srgbClr val="1D4ED8"/>
                </a:solidFill>
              </a:defRPr>
            </a:pPr>
            <a:r>
              <a:t>SUCCESS METRICS: 40% faster skill-gap closure • 60% higher ATS screening pass rate • 3x increase in student-internship match accuracy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5257800"/>
            <a:ext cx="11064240" cy="96012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5321808"/>
            <a:ext cx="106984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200">
                <a:solidFill>
                  <a:srgbClr val="B91C1C"/>
                </a:solidFill>
              </a:rPr>
              <a:t>🎥 OFFICIAL WORKING PRODUCT DEMONSTRATION VIDEO LINK: </a:t>
            </a:r>
          </a:p>
          <a:p>
            <a:r>
              <a:rPr b="1" sz="1100">
                <a:solidFill>
                  <a:srgbClr val="0F172A"/>
                </a:solidFill>
              </a:rPr>
              <a:t>• Product Walkthrough Video (GitHub Hosted): </a:t>
            </a:r>
            <a:r>
              <a:rPr b="1" sz="1100">
                <a:solidFill>
                  <a:srgbClr val="2563EB"/>
                </a:solidFill>
              </a:rPr>
              <a:t>https://github.com/faizz-hub/campustoindustry#product-demo-video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320040"/>
            <a:ext cx="2011680" cy="43891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94A3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2011680" cy="43891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0F172A"/>
                </a:solidFill>
              </a:defRPr>
            </a:pPr>
            <a:r>
              <a:t>Campus2Industry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926080" y="256032"/>
            <a:ext cx="6858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172A"/>
                </a:solidFill>
              </a:defRPr>
            </a:pPr>
            <a:r>
              <a:t>RESEARCH AND REFERENCES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149840" y="228600"/>
            <a:ext cx="1645920" cy="822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49840" y="256032"/>
            <a:ext cx="1645920" cy="7772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defRPr sz="850" b="1">
                <a:solidFill>
                  <a:srgbClr val="1D4ED8"/>
                </a:solidFill>
              </a:defRPr>
            </a:pPr>
            <a:r>
              <a:t>SMART INDIA</a:t>
            </a:r>
            <a:br/>
            <a:r>
              <a:t>HACKATHON 2026</a:t>
            </a:r>
          </a:p>
          <a:p>
            <a:pPr algn="ctr">
              <a:defRPr sz="800" b="1">
                <a:solidFill>
                  <a:srgbClr val="D97706"/>
                </a:solidFill>
              </a:defRPr>
            </a:pPr>
            <a:r>
              <a:t>SIH26044</a:t>
            </a:r>
          </a:p>
        </p:txBody>
      </p:sp>
      <p:sp>
        <p:nvSpPr>
          <p:cNvPr id="7" name="Rectangle 6"/>
          <p:cNvSpPr/>
          <p:nvPr/>
        </p:nvSpPr>
        <p:spPr>
          <a:xfrm>
            <a:off x="3474720" y="6327648"/>
            <a:ext cx="5303520" cy="50292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74720" y="6355080"/>
            <a:ext cx="5303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@SIH Idea submission- Template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0" y="6291072"/>
            <a:ext cx="7315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1D4ED8"/>
                </a:solidFill>
              </a:defRPr>
            </a:pPr>
            <a: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1188720"/>
            <a:ext cx="539496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D4ED8"/>
                </a:solidFill>
              </a:defRPr>
            </a:pPr>
            <a:r>
              <a:t>Official / Problem Context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Smart India Hackathon 2026 Official Idea Submission Guidelines.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SIH Problem Statement SIH26044: Portal for Academia - Industry collaboration for Skill Mapping, Internships and Placement.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National Education Policy (NEP 2020) framework on continuous skill mapping and Academic Bank of Credits (ABC).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1D4ED8"/>
                </a:solidFill>
              </a:defRPr>
            </a:pPr>
            <a:r>
              <a:t>Technical References &amp; Standards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• React 19 &amp; Vite 8 Documentation — Single-page architecture, optimized bundle chunks, and DOM lifecycle.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• FastAPI &amp; Pydantic Documentation — Asynchronous REST APIs, type safety, and OpenAPI documentation schema.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• PostgreSQL 16 &amp; SQLAlchemy Documentation — Relational database normalization, indexing, and foreign key relations.</a:t>
            </a:r>
          </a:p>
          <a:p>
            <a:pPr>
              <a:spcAft>
                <a:spcPts val="300"/>
              </a:spcAft>
              <a:defRPr sz="1000">
                <a:solidFill>
                  <a:srgbClr val="334155"/>
                </a:solidFill>
              </a:defRPr>
            </a:pPr>
            <a:r>
              <a:t>• Google Generative AI SDK Reference — Prompt grounding, structured JSON mode, and Gemini 2.5/3.6 Flash capabilities.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394960" cy="49377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280160"/>
            <a:ext cx="502920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D4ED8"/>
                </a:solidFill>
              </a:defRPr>
            </a:pPr>
            <a:r>
              <a:t>Research Areas &amp; Literature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Competency-Based Education &amp; Skill Gap Analytics: Studies on reducing graduate underemployment via structured learning paths.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Explainable Recommender Systems in Talent Acquisition: Moving beyond black-box matching to transparent, verifiable eligibility signals.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AI-Assisted Formative Interview Assessment: Staged technical questioning models and rubric-based speech/text scoring.</a:t>
            </a:r>
          </a:p>
          <a:p>
            <a:pPr>
              <a:spcAft>
                <a:spcPts val="400"/>
              </a:spcAft>
              <a:defRPr sz="1050">
                <a:solidFill>
                  <a:srgbClr val="334155"/>
                </a:solidFill>
              </a:defRPr>
            </a:pPr>
            <a:r>
              <a:t>• Industry Standard Skill Taxonomies: O*NET OnLine and European ESCO hierarchical skill classification frameworks.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400" b="1">
                <a:solidFill>
                  <a:srgbClr val="D97706"/>
                </a:solidFill>
              </a:defRPr>
            </a:pPr>
            <a:r>
              <a:t>Prototype &amp; Validation Note</a:t>
            </a:r>
          </a:p>
          <a:p>
            <a:pPr>
              <a:defRPr sz="1000">
                <a:solidFill>
                  <a:srgbClr val="334155"/>
                </a:solidFill>
              </a:defRPr>
            </a:pPr>
            <a:r>
              <a:t>• Working prototype is fully functional with live AI services, reactive components, and local storage.</a:t>
            </a:r>
            <a:br/>
            <a:r>
              <a:t>• Demonstration and seeded job opportunity data are synthetic simulations aligned with current Tier-1/Tier-2 Indian tech hiring patterns.</a:t>
            </a:r>
            <a:br/>
            <a:r>
              <a:t>• Corporate partnerships, active job postings, and university LMS connections will be verified and integrated during Phase 2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